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4D7DD1-92D6-47C3-A5DF-782E6F74FF7A}"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576472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4D7DD1-92D6-47C3-A5DF-782E6F74FF7A}"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3145965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4D7DD1-92D6-47C3-A5DF-782E6F74FF7A}"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211152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4D7DD1-92D6-47C3-A5DF-782E6F74FF7A}"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374134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4D7DD1-92D6-47C3-A5DF-782E6F74FF7A}" type="datetimeFigureOut">
              <a:rPr lang="en-IN" smtClean="0"/>
              <a:t>04-02-2026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3917238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4D7DD1-92D6-47C3-A5DF-782E6F74FF7A}" type="datetimeFigureOut">
              <a:rPr lang="en-IN" smtClean="0"/>
              <a:t>04-02-2026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2920500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4D7DD1-92D6-47C3-A5DF-782E6F74FF7A}" type="datetimeFigureOut">
              <a:rPr lang="en-IN" smtClean="0"/>
              <a:t>04-02-2026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2131153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4D7DD1-92D6-47C3-A5DF-782E6F74FF7A}"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2847962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4D7DD1-92D6-47C3-A5DF-782E6F74FF7A}"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4080552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4D7DD1-92D6-47C3-A5DF-782E6F74FF7A}"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812901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4D7DD1-92D6-47C3-A5DF-782E6F74FF7A}"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A5C61B2-3253-433B-8C0A-7290AEA87624}"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823262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54D7DD1-92D6-47C3-A5DF-782E6F74FF7A}"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1978962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54D7DD1-92D6-47C3-A5DF-782E6F74FF7A}"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5C61B2-3253-433B-8C0A-7290AEA87624}"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477994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54D7DD1-92D6-47C3-A5DF-782E6F74FF7A}"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2216684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4D7DD1-92D6-47C3-A5DF-782E6F74FF7A}"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3712904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4D7DD1-92D6-47C3-A5DF-782E6F74FF7A}"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A5C61B2-3253-433B-8C0A-7290AEA87624}" type="slidenum">
              <a:rPr lang="en-IN" smtClean="0"/>
              <a:t>‹#›</a:t>
            </a:fld>
            <a:endParaRPr lang="en-IN"/>
          </a:p>
        </p:txBody>
      </p:sp>
    </p:spTree>
    <p:extLst>
      <p:ext uri="{BB962C8B-B14F-4D97-AF65-F5344CB8AC3E}">
        <p14:creationId xmlns:p14="http://schemas.microsoft.com/office/powerpoint/2010/main" val="373902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54D7DD1-92D6-47C3-A5DF-782E6F74FF7A}" type="datetimeFigureOut">
              <a:rPr lang="en-IN" smtClean="0"/>
              <a:t>04-02-2026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A5C61B2-3253-433B-8C0A-7290AEA87624}" type="slidenum">
              <a:rPr lang="en-IN" smtClean="0"/>
              <a:t>‹#›</a:t>
            </a:fld>
            <a:endParaRPr lang="en-IN"/>
          </a:p>
        </p:txBody>
      </p:sp>
    </p:spTree>
    <p:extLst>
      <p:ext uri="{BB962C8B-B14F-4D97-AF65-F5344CB8AC3E}">
        <p14:creationId xmlns:p14="http://schemas.microsoft.com/office/powerpoint/2010/main" val="2637737477"/>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4CA98-7BAF-4E68-8139-7284A1D8F9E5}"/>
              </a:ext>
            </a:extLst>
          </p:cNvPr>
          <p:cNvSpPr>
            <a:spLocks noGrp="1"/>
          </p:cNvSpPr>
          <p:nvPr>
            <p:ph type="ctrTitle"/>
          </p:nvPr>
        </p:nvSpPr>
        <p:spPr>
          <a:xfrm>
            <a:off x="2389204" y="1816710"/>
            <a:ext cx="8637073" cy="2541431"/>
          </a:xfrm>
        </p:spPr>
        <p:txBody>
          <a:bodyPr>
            <a:normAutofit fontScale="90000"/>
          </a:bodyPr>
          <a:lstStyle/>
          <a:p>
            <a:r>
              <a:rPr lang="en-US" dirty="0"/>
              <a:t>Introduction to Convolutional Neural Network (CNN)</a:t>
            </a:r>
            <a:endParaRPr lang="en-IN" dirty="0"/>
          </a:p>
        </p:txBody>
      </p:sp>
    </p:spTree>
    <p:extLst>
      <p:ext uri="{BB962C8B-B14F-4D97-AF65-F5344CB8AC3E}">
        <p14:creationId xmlns:p14="http://schemas.microsoft.com/office/powerpoint/2010/main" val="40166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942450-9B9E-8934-65EE-68EDE54505EE}"/>
              </a:ext>
            </a:extLst>
          </p:cNvPr>
          <p:cNvSpPr>
            <a:spLocks noGrp="1"/>
          </p:cNvSpPr>
          <p:nvPr>
            <p:ph idx="1"/>
          </p:nvPr>
        </p:nvSpPr>
        <p:spPr>
          <a:xfrm>
            <a:off x="1066800" y="1253331"/>
            <a:ext cx="10515600" cy="4351338"/>
          </a:xfrm>
        </p:spPr>
        <p:txBody>
          <a:bodyPr>
            <a:normAutofit/>
          </a:bodyPr>
          <a:lstStyle/>
          <a:p>
            <a:r>
              <a:rPr lang="en-US" sz="2800" dirty="0"/>
              <a:t>A </a:t>
            </a:r>
            <a:r>
              <a:rPr lang="en-US" sz="2800" b="1" dirty="0"/>
              <a:t>Convolutional Neural Network (CNN)</a:t>
            </a:r>
            <a:r>
              <a:rPr lang="en-US" sz="2800" dirty="0"/>
              <a:t> is a type of deep learning model designed to process data that has a grid-like structure, such as images. CNNs are widely used in computer vision because they can automatically learn spatial features like edges, shapes, and objects. They are inspired by the human visual system, where neurons respond to specific regions of the visual field.</a:t>
            </a:r>
            <a:endParaRPr lang="en-IN" sz="2800" dirty="0"/>
          </a:p>
        </p:txBody>
      </p:sp>
    </p:spTree>
    <p:extLst>
      <p:ext uri="{BB962C8B-B14F-4D97-AF65-F5344CB8AC3E}">
        <p14:creationId xmlns:p14="http://schemas.microsoft.com/office/powerpoint/2010/main" val="1563861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B8A6D-6F26-F4DD-0D05-C1EAE8E1B8B3}"/>
              </a:ext>
            </a:extLst>
          </p:cNvPr>
          <p:cNvSpPr>
            <a:spLocks noGrp="1"/>
          </p:cNvSpPr>
          <p:nvPr>
            <p:ph type="title"/>
          </p:nvPr>
        </p:nvSpPr>
        <p:spPr/>
        <p:txBody>
          <a:bodyPr/>
          <a:lstStyle/>
          <a:p>
            <a:r>
              <a:rPr lang="en-IN" dirty="0"/>
              <a:t>Why CNN?</a:t>
            </a:r>
          </a:p>
        </p:txBody>
      </p:sp>
      <p:sp>
        <p:nvSpPr>
          <p:cNvPr id="3" name="Content Placeholder 2">
            <a:extLst>
              <a:ext uri="{FF2B5EF4-FFF2-40B4-BE49-F238E27FC236}">
                <a16:creationId xmlns:a16="http://schemas.microsoft.com/office/drawing/2014/main" id="{5CB1F61D-CC4D-D83B-BDD6-96D16F6B5DAE}"/>
              </a:ext>
            </a:extLst>
          </p:cNvPr>
          <p:cNvSpPr>
            <a:spLocks noGrp="1"/>
          </p:cNvSpPr>
          <p:nvPr>
            <p:ph idx="1"/>
          </p:nvPr>
        </p:nvSpPr>
        <p:spPr>
          <a:xfrm>
            <a:off x="2303462" y="1540189"/>
            <a:ext cx="8915400" cy="3777622"/>
          </a:xfrm>
        </p:spPr>
        <p:txBody>
          <a:bodyPr/>
          <a:lstStyle/>
          <a:p>
            <a:r>
              <a:rPr lang="en-US" sz="2400" dirty="0"/>
              <a:t>Images contain a large number of pixels, making them high-dimensional data. Traditional fully connected neural networks treat each pixel independently, which results in a very large number of parameters and high computational cost. CNNs solve this problem by using </a:t>
            </a:r>
            <a:r>
              <a:rPr lang="en-US" sz="2400" b="1" dirty="0"/>
              <a:t>local connectivity, weight sharing, and pooling</a:t>
            </a:r>
            <a:r>
              <a:rPr lang="en-US" sz="2400" dirty="0"/>
              <a:t>, which reduce parameters and improve efficiency while maintaining high accuracy</a:t>
            </a:r>
            <a:r>
              <a:rPr lang="en-US" dirty="0"/>
              <a:t>.</a:t>
            </a:r>
            <a:endParaRPr lang="en-IN" dirty="0"/>
          </a:p>
        </p:txBody>
      </p:sp>
    </p:spTree>
    <p:extLst>
      <p:ext uri="{BB962C8B-B14F-4D97-AF65-F5344CB8AC3E}">
        <p14:creationId xmlns:p14="http://schemas.microsoft.com/office/powerpoint/2010/main" val="1291711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11DF5-5D6F-F71C-258B-0C3EB248C23A}"/>
              </a:ext>
            </a:extLst>
          </p:cNvPr>
          <p:cNvSpPr>
            <a:spLocks noGrp="1"/>
          </p:cNvSpPr>
          <p:nvPr>
            <p:ph type="title"/>
          </p:nvPr>
        </p:nvSpPr>
        <p:spPr/>
        <p:txBody>
          <a:bodyPr/>
          <a:lstStyle/>
          <a:p>
            <a:r>
              <a:rPr lang="en-IN" dirty="0"/>
              <a:t>Applications of CNN</a:t>
            </a:r>
          </a:p>
        </p:txBody>
      </p:sp>
      <p:sp>
        <p:nvSpPr>
          <p:cNvPr id="3" name="Content Placeholder 2">
            <a:extLst>
              <a:ext uri="{FF2B5EF4-FFF2-40B4-BE49-F238E27FC236}">
                <a16:creationId xmlns:a16="http://schemas.microsoft.com/office/drawing/2014/main" id="{1B729949-0D61-750A-8D22-A6BC86B91C60}"/>
              </a:ext>
            </a:extLst>
          </p:cNvPr>
          <p:cNvSpPr>
            <a:spLocks noGrp="1"/>
          </p:cNvSpPr>
          <p:nvPr>
            <p:ph idx="1"/>
          </p:nvPr>
        </p:nvSpPr>
        <p:spPr/>
        <p:txBody>
          <a:bodyPr/>
          <a:lstStyle/>
          <a:p>
            <a:pPr>
              <a:buNone/>
            </a:pPr>
            <a:r>
              <a:rPr lang="en-US" dirty="0"/>
              <a:t>CNNs are used in many real-world applications such as:</a:t>
            </a:r>
          </a:p>
          <a:p>
            <a:pPr>
              <a:buFont typeface="Arial" panose="020B0604020202020204" pitchFamily="34" charset="0"/>
              <a:buChar char="•"/>
            </a:pPr>
            <a:r>
              <a:rPr lang="en-US" dirty="0"/>
              <a:t>Image classification</a:t>
            </a:r>
          </a:p>
          <a:p>
            <a:pPr>
              <a:buFont typeface="Arial" panose="020B0604020202020204" pitchFamily="34" charset="0"/>
              <a:buChar char="•"/>
            </a:pPr>
            <a:r>
              <a:rPr lang="en-US" dirty="0"/>
              <a:t>Face recognition</a:t>
            </a:r>
          </a:p>
          <a:p>
            <a:pPr>
              <a:buFont typeface="Arial" panose="020B0604020202020204" pitchFamily="34" charset="0"/>
              <a:buChar char="•"/>
            </a:pPr>
            <a:r>
              <a:rPr lang="en-US" dirty="0"/>
              <a:t>Object detection</a:t>
            </a:r>
          </a:p>
          <a:p>
            <a:pPr>
              <a:buFont typeface="Arial" panose="020B0604020202020204" pitchFamily="34" charset="0"/>
              <a:buChar char="•"/>
            </a:pPr>
            <a:r>
              <a:rPr lang="en-US" dirty="0"/>
              <a:t>Medical image analysis</a:t>
            </a:r>
          </a:p>
          <a:p>
            <a:pPr>
              <a:buFont typeface="Arial" panose="020B0604020202020204" pitchFamily="34" charset="0"/>
              <a:buChar char="•"/>
            </a:pPr>
            <a:r>
              <a:rPr lang="en-US" dirty="0"/>
              <a:t>Autonomous vehicles</a:t>
            </a:r>
          </a:p>
          <a:p>
            <a:pPr>
              <a:buFont typeface="Arial" panose="020B0604020202020204" pitchFamily="34" charset="0"/>
              <a:buChar char="•"/>
            </a:pPr>
            <a:r>
              <a:rPr lang="en-US" dirty="0"/>
              <a:t>Video surveillance</a:t>
            </a:r>
          </a:p>
          <a:p>
            <a:endParaRPr lang="en-IN" dirty="0"/>
          </a:p>
        </p:txBody>
      </p:sp>
    </p:spTree>
    <p:extLst>
      <p:ext uri="{BB962C8B-B14F-4D97-AF65-F5344CB8AC3E}">
        <p14:creationId xmlns:p14="http://schemas.microsoft.com/office/powerpoint/2010/main" val="3169622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84CF3-4F78-5E4F-6CB5-D2CF961D7BDD}"/>
              </a:ext>
            </a:extLst>
          </p:cNvPr>
          <p:cNvSpPr>
            <a:spLocks noGrp="1"/>
          </p:cNvSpPr>
          <p:nvPr>
            <p:ph type="title"/>
          </p:nvPr>
        </p:nvSpPr>
        <p:spPr/>
        <p:txBody>
          <a:bodyPr/>
          <a:lstStyle/>
          <a:p>
            <a:r>
              <a:rPr lang="en-IN" dirty="0"/>
              <a:t>Basic Architecture of CNN</a:t>
            </a:r>
          </a:p>
        </p:txBody>
      </p:sp>
      <p:sp>
        <p:nvSpPr>
          <p:cNvPr id="3" name="Content Placeholder 2">
            <a:extLst>
              <a:ext uri="{FF2B5EF4-FFF2-40B4-BE49-F238E27FC236}">
                <a16:creationId xmlns:a16="http://schemas.microsoft.com/office/drawing/2014/main" id="{96F4E46D-6AC8-690E-EFF9-4393B47C5819}"/>
              </a:ext>
            </a:extLst>
          </p:cNvPr>
          <p:cNvSpPr>
            <a:spLocks noGrp="1"/>
          </p:cNvSpPr>
          <p:nvPr>
            <p:ph idx="1"/>
          </p:nvPr>
        </p:nvSpPr>
        <p:spPr/>
        <p:txBody>
          <a:bodyPr/>
          <a:lstStyle/>
          <a:p>
            <a:pPr>
              <a:buNone/>
            </a:pPr>
            <a:r>
              <a:rPr lang="en-US" dirty="0"/>
              <a:t>A typical CNN consists of the following layers:</a:t>
            </a:r>
          </a:p>
          <a:p>
            <a:pPr>
              <a:buFont typeface="Arial" panose="020B0604020202020204" pitchFamily="34" charset="0"/>
              <a:buChar char="•"/>
            </a:pPr>
            <a:r>
              <a:rPr lang="en-US" b="1" dirty="0"/>
              <a:t>Input Layer</a:t>
            </a:r>
            <a:r>
              <a:rPr lang="en-US" dirty="0"/>
              <a:t> – Receives raw image pixels</a:t>
            </a:r>
          </a:p>
          <a:p>
            <a:pPr>
              <a:buFont typeface="Arial" panose="020B0604020202020204" pitchFamily="34" charset="0"/>
              <a:buChar char="•"/>
            </a:pPr>
            <a:r>
              <a:rPr lang="en-US" b="1" dirty="0"/>
              <a:t>Convolution Layer</a:t>
            </a:r>
            <a:r>
              <a:rPr lang="en-US" dirty="0"/>
              <a:t> – Extracts features from the image</a:t>
            </a:r>
          </a:p>
          <a:p>
            <a:pPr>
              <a:buFont typeface="Arial" panose="020B0604020202020204" pitchFamily="34" charset="0"/>
              <a:buChar char="•"/>
            </a:pPr>
            <a:r>
              <a:rPr lang="en-US" b="1" dirty="0"/>
              <a:t>Activation Function (</a:t>
            </a:r>
            <a:r>
              <a:rPr lang="en-US" b="1" dirty="0" err="1"/>
              <a:t>ReLU</a:t>
            </a:r>
            <a:r>
              <a:rPr lang="en-US" b="1" dirty="0"/>
              <a:t>)</a:t>
            </a:r>
            <a:r>
              <a:rPr lang="en-US" dirty="0"/>
              <a:t> – Introduces non-linearity</a:t>
            </a:r>
          </a:p>
          <a:p>
            <a:pPr>
              <a:buFont typeface="Arial" panose="020B0604020202020204" pitchFamily="34" charset="0"/>
              <a:buChar char="•"/>
            </a:pPr>
            <a:r>
              <a:rPr lang="en-US" b="1" dirty="0"/>
              <a:t>Pooling Layer</a:t>
            </a:r>
            <a:r>
              <a:rPr lang="en-US" dirty="0"/>
              <a:t> – Reduces spatial dimensions</a:t>
            </a:r>
          </a:p>
          <a:p>
            <a:pPr>
              <a:buFont typeface="Arial" panose="020B0604020202020204" pitchFamily="34" charset="0"/>
              <a:buChar char="•"/>
            </a:pPr>
            <a:r>
              <a:rPr lang="en-US" b="1" dirty="0"/>
              <a:t>Fully Connected Layer</a:t>
            </a:r>
            <a:r>
              <a:rPr lang="en-US" dirty="0"/>
              <a:t> – Performs classification</a:t>
            </a:r>
          </a:p>
          <a:p>
            <a:pPr>
              <a:buFont typeface="Arial" panose="020B0604020202020204" pitchFamily="34" charset="0"/>
              <a:buChar char="•"/>
            </a:pPr>
            <a:r>
              <a:rPr lang="en-US" b="1" dirty="0"/>
              <a:t>Output Layer</a:t>
            </a:r>
            <a:r>
              <a:rPr lang="en-US" dirty="0"/>
              <a:t> – Produces final prediction</a:t>
            </a:r>
          </a:p>
          <a:p>
            <a:endParaRPr lang="en-IN" dirty="0"/>
          </a:p>
        </p:txBody>
      </p:sp>
    </p:spTree>
    <p:extLst>
      <p:ext uri="{BB962C8B-B14F-4D97-AF65-F5344CB8AC3E}">
        <p14:creationId xmlns:p14="http://schemas.microsoft.com/office/powerpoint/2010/main" val="719945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7AB71-1711-BCE5-5D55-984DFC5615C8}"/>
              </a:ext>
            </a:extLst>
          </p:cNvPr>
          <p:cNvSpPr>
            <a:spLocks noGrp="1"/>
          </p:cNvSpPr>
          <p:nvPr>
            <p:ph type="title"/>
          </p:nvPr>
        </p:nvSpPr>
        <p:spPr/>
        <p:txBody>
          <a:bodyPr/>
          <a:lstStyle/>
          <a:p>
            <a:r>
              <a:rPr lang="en-IN" dirty="0"/>
              <a:t>What is Convolution?</a:t>
            </a:r>
          </a:p>
        </p:txBody>
      </p:sp>
      <p:sp>
        <p:nvSpPr>
          <p:cNvPr id="3" name="Content Placeholder 2">
            <a:extLst>
              <a:ext uri="{FF2B5EF4-FFF2-40B4-BE49-F238E27FC236}">
                <a16:creationId xmlns:a16="http://schemas.microsoft.com/office/drawing/2014/main" id="{74AB120B-096B-6038-3CD0-A8BAB01D71FF}"/>
              </a:ext>
            </a:extLst>
          </p:cNvPr>
          <p:cNvSpPr>
            <a:spLocks noGrp="1"/>
          </p:cNvSpPr>
          <p:nvPr>
            <p:ph idx="1"/>
          </p:nvPr>
        </p:nvSpPr>
        <p:spPr/>
        <p:txBody>
          <a:bodyPr>
            <a:normAutofit/>
          </a:bodyPr>
          <a:lstStyle/>
          <a:p>
            <a:r>
              <a:rPr lang="en-US" sz="2800" dirty="0"/>
              <a:t>Convolution is a mathematical operation in which a small matrix called a </a:t>
            </a:r>
            <a:r>
              <a:rPr lang="en-US" sz="2800" b="1" dirty="0"/>
              <a:t>kernel or filter</a:t>
            </a:r>
            <a:r>
              <a:rPr lang="en-US" sz="2800" dirty="0"/>
              <a:t> is applied to an input image. The kernel slides over the image and performs element-wise multiplication followed by summation. This operation helps in extracting important features such as edges, corners, and textures.</a:t>
            </a:r>
            <a:endParaRPr lang="en-IN" sz="2800" dirty="0"/>
          </a:p>
        </p:txBody>
      </p:sp>
    </p:spTree>
    <p:extLst>
      <p:ext uri="{BB962C8B-B14F-4D97-AF65-F5344CB8AC3E}">
        <p14:creationId xmlns:p14="http://schemas.microsoft.com/office/powerpoint/2010/main" val="3297146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AE638-62BA-8692-82AB-3E1BF4FC2F80}"/>
              </a:ext>
            </a:extLst>
          </p:cNvPr>
          <p:cNvSpPr>
            <a:spLocks noGrp="1"/>
          </p:cNvSpPr>
          <p:nvPr>
            <p:ph type="title"/>
          </p:nvPr>
        </p:nvSpPr>
        <p:spPr/>
        <p:txBody>
          <a:bodyPr/>
          <a:lstStyle/>
          <a:p>
            <a:r>
              <a:rPr lang="en-IN" dirty="0"/>
              <a:t>Convolutional Operation</a:t>
            </a:r>
          </a:p>
        </p:txBody>
      </p:sp>
      <p:sp>
        <p:nvSpPr>
          <p:cNvPr id="3" name="Content Placeholder 2">
            <a:extLst>
              <a:ext uri="{FF2B5EF4-FFF2-40B4-BE49-F238E27FC236}">
                <a16:creationId xmlns:a16="http://schemas.microsoft.com/office/drawing/2014/main" id="{69AB8720-D87E-836F-8AE4-B7C671484D43}"/>
              </a:ext>
            </a:extLst>
          </p:cNvPr>
          <p:cNvSpPr>
            <a:spLocks noGrp="1"/>
          </p:cNvSpPr>
          <p:nvPr>
            <p:ph idx="1"/>
          </p:nvPr>
        </p:nvSpPr>
        <p:spPr/>
        <p:txBody>
          <a:bodyPr/>
          <a:lstStyle/>
          <a:p>
            <a:pPr>
              <a:buNone/>
            </a:pPr>
            <a:r>
              <a:rPr lang="en-US" dirty="0"/>
              <a:t>In the convolutional operation:</a:t>
            </a:r>
          </a:p>
          <a:p>
            <a:pPr>
              <a:buFont typeface="Arial" panose="020B0604020202020204" pitchFamily="34" charset="0"/>
              <a:buChar char="•"/>
            </a:pPr>
            <a:r>
              <a:rPr lang="en-US" dirty="0"/>
              <a:t>A kernel moves across the input image</a:t>
            </a:r>
          </a:p>
          <a:p>
            <a:pPr>
              <a:buFont typeface="Arial" panose="020B0604020202020204" pitchFamily="34" charset="0"/>
              <a:buChar char="•"/>
            </a:pPr>
            <a:r>
              <a:rPr lang="en-US" dirty="0"/>
              <a:t>Element-wise multiplication is performed</a:t>
            </a:r>
          </a:p>
          <a:p>
            <a:pPr>
              <a:buFont typeface="Arial" panose="020B0604020202020204" pitchFamily="34" charset="0"/>
              <a:buChar char="•"/>
            </a:pPr>
            <a:r>
              <a:rPr lang="en-US" dirty="0"/>
              <a:t>All multiplied values are summed</a:t>
            </a:r>
          </a:p>
          <a:p>
            <a:pPr>
              <a:buFont typeface="Arial" panose="020B0604020202020204" pitchFamily="34" charset="0"/>
              <a:buChar char="•"/>
            </a:pPr>
            <a:r>
              <a:rPr lang="en-US" dirty="0"/>
              <a:t>Each sum produces one value in the output</a:t>
            </a:r>
          </a:p>
          <a:p>
            <a:pPr>
              <a:buNone/>
            </a:pPr>
            <a:r>
              <a:rPr lang="en-US" dirty="0"/>
              <a:t>Repeating this across the entire image produces a </a:t>
            </a:r>
            <a:r>
              <a:rPr lang="en-US" b="1" dirty="0"/>
              <a:t>feature map</a:t>
            </a:r>
            <a:r>
              <a:rPr lang="en-US" dirty="0"/>
              <a:t>.</a:t>
            </a:r>
          </a:p>
          <a:p>
            <a:pPr marL="0" indent="0">
              <a:buNone/>
            </a:pPr>
            <a:endParaRPr lang="en-IN" dirty="0"/>
          </a:p>
        </p:txBody>
      </p:sp>
    </p:spTree>
    <p:extLst>
      <p:ext uri="{BB962C8B-B14F-4D97-AF65-F5344CB8AC3E}">
        <p14:creationId xmlns:p14="http://schemas.microsoft.com/office/powerpoint/2010/main" val="1660055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F4E08-D66A-1C2E-0D36-ED7E64ED1720}"/>
              </a:ext>
            </a:extLst>
          </p:cNvPr>
          <p:cNvSpPr>
            <a:spLocks noGrp="1"/>
          </p:cNvSpPr>
          <p:nvPr>
            <p:ph type="title"/>
          </p:nvPr>
        </p:nvSpPr>
        <p:spPr/>
        <p:txBody>
          <a:bodyPr/>
          <a:lstStyle/>
          <a:p>
            <a:r>
              <a:rPr lang="en-IN" dirty="0"/>
              <a:t>Kernel / Filter</a:t>
            </a:r>
          </a:p>
        </p:txBody>
      </p:sp>
      <p:sp>
        <p:nvSpPr>
          <p:cNvPr id="3" name="Content Placeholder 2">
            <a:extLst>
              <a:ext uri="{FF2B5EF4-FFF2-40B4-BE49-F238E27FC236}">
                <a16:creationId xmlns:a16="http://schemas.microsoft.com/office/drawing/2014/main" id="{F675D8AE-3EB7-8F4B-F8A2-CC7315B98BC4}"/>
              </a:ext>
            </a:extLst>
          </p:cNvPr>
          <p:cNvSpPr>
            <a:spLocks noGrp="1"/>
          </p:cNvSpPr>
          <p:nvPr>
            <p:ph idx="1"/>
          </p:nvPr>
        </p:nvSpPr>
        <p:spPr/>
        <p:txBody>
          <a:bodyPr>
            <a:normAutofit/>
          </a:bodyPr>
          <a:lstStyle/>
          <a:p>
            <a:pPr marL="0" indent="0">
              <a:buNone/>
            </a:pPr>
            <a:r>
              <a:rPr lang="en-US" sz="2800" dirty="0"/>
              <a:t>A kernel is a small matrix (commonly 3×3 or 5×5) used to detect specific features in an image. Different kernels detect different patterns such as vertical edges, horizontal edges, or textures. During training, CNN automatically learns the best kernel values using backpropagation.</a:t>
            </a:r>
            <a:endParaRPr lang="en-IN" sz="2800" dirty="0"/>
          </a:p>
        </p:txBody>
      </p:sp>
    </p:spTree>
    <p:extLst>
      <p:ext uri="{BB962C8B-B14F-4D97-AF65-F5344CB8AC3E}">
        <p14:creationId xmlns:p14="http://schemas.microsoft.com/office/powerpoint/2010/main" val="4178405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5ADFD-3310-1FBC-6CBF-291795D2602E}"/>
              </a:ext>
            </a:extLst>
          </p:cNvPr>
          <p:cNvSpPr>
            <a:spLocks noGrp="1"/>
          </p:cNvSpPr>
          <p:nvPr>
            <p:ph type="title"/>
          </p:nvPr>
        </p:nvSpPr>
        <p:spPr/>
        <p:txBody>
          <a:bodyPr/>
          <a:lstStyle/>
          <a:p>
            <a:r>
              <a:rPr lang="en-IN" dirty="0"/>
              <a:t>Stride</a:t>
            </a:r>
          </a:p>
        </p:txBody>
      </p:sp>
      <p:sp>
        <p:nvSpPr>
          <p:cNvPr id="3" name="Content Placeholder 2">
            <a:extLst>
              <a:ext uri="{FF2B5EF4-FFF2-40B4-BE49-F238E27FC236}">
                <a16:creationId xmlns:a16="http://schemas.microsoft.com/office/drawing/2014/main" id="{AF815415-F431-A84A-68DF-015C3051F49F}"/>
              </a:ext>
            </a:extLst>
          </p:cNvPr>
          <p:cNvSpPr>
            <a:spLocks noGrp="1"/>
          </p:cNvSpPr>
          <p:nvPr>
            <p:ph idx="1"/>
          </p:nvPr>
        </p:nvSpPr>
        <p:spPr>
          <a:xfrm>
            <a:off x="2417762" y="1905000"/>
            <a:ext cx="8915400" cy="3777622"/>
          </a:xfrm>
        </p:spPr>
        <p:txBody>
          <a:bodyPr/>
          <a:lstStyle/>
          <a:p>
            <a:pPr>
              <a:buNone/>
            </a:pPr>
            <a:r>
              <a:rPr lang="en-US" sz="2800" dirty="0"/>
              <a:t>Stride defines how many pixels the kernel moves at each step:</a:t>
            </a:r>
          </a:p>
          <a:p>
            <a:pPr>
              <a:buFont typeface="Arial" panose="020B0604020202020204" pitchFamily="34" charset="0"/>
              <a:buChar char="•"/>
            </a:pPr>
            <a:r>
              <a:rPr lang="en-US" sz="2800" dirty="0"/>
              <a:t>Stride = 1 → detailed feature map</a:t>
            </a:r>
          </a:p>
          <a:p>
            <a:pPr>
              <a:buFont typeface="Arial" panose="020B0604020202020204" pitchFamily="34" charset="0"/>
              <a:buChar char="•"/>
            </a:pPr>
            <a:r>
              <a:rPr lang="en-US" sz="2800" dirty="0"/>
              <a:t>Larger stride → reduced output size and faster computation</a:t>
            </a:r>
          </a:p>
          <a:p>
            <a:pPr>
              <a:buNone/>
            </a:pPr>
            <a:r>
              <a:rPr lang="en-US" sz="2800" dirty="0"/>
              <a:t>Stride controls the spatial dimensions of the output feature map.</a:t>
            </a:r>
          </a:p>
          <a:p>
            <a:pPr marL="0" indent="0">
              <a:buNone/>
            </a:pPr>
            <a:endParaRPr lang="en-IN" dirty="0"/>
          </a:p>
        </p:txBody>
      </p:sp>
    </p:spTree>
    <p:extLst>
      <p:ext uri="{BB962C8B-B14F-4D97-AF65-F5344CB8AC3E}">
        <p14:creationId xmlns:p14="http://schemas.microsoft.com/office/powerpoint/2010/main" val="2218056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7332E-D42A-5A08-4C53-0542B36A17C0}"/>
              </a:ext>
            </a:extLst>
          </p:cNvPr>
          <p:cNvSpPr>
            <a:spLocks noGrp="1"/>
          </p:cNvSpPr>
          <p:nvPr>
            <p:ph type="title"/>
          </p:nvPr>
        </p:nvSpPr>
        <p:spPr/>
        <p:txBody>
          <a:bodyPr/>
          <a:lstStyle/>
          <a:p>
            <a:r>
              <a:rPr lang="en-IN" dirty="0"/>
              <a:t>Padding</a:t>
            </a:r>
          </a:p>
        </p:txBody>
      </p:sp>
      <p:sp>
        <p:nvSpPr>
          <p:cNvPr id="3" name="Content Placeholder 2">
            <a:extLst>
              <a:ext uri="{FF2B5EF4-FFF2-40B4-BE49-F238E27FC236}">
                <a16:creationId xmlns:a16="http://schemas.microsoft.com/office/drawing/2014/main" id="{397D2DC9-97E0-EAF0-DD48-B849D357F9CC}"/>
              </a:ext>
            </a:extLst>
          </p:cNvPr>
          <p:cNvSpPr>
            <a:spLocks noGrp="1"/>
          </p:cNvSpPr>
          <p:nvPr>
            <p:ph idx="1"/>
          </p:nvPr>
        </p:nvSpPr>
        <p:spPr/>
        <p:txBody>
          <a:bodyPr/>
          <a:lstStyle/>
          <a:p>
            <a:pPr>
              <a:buNone/>
            </a:pPr>
            <a:r>
              <a:rPr lang="en-US" sz="2400" dirty="0"/>
              <a:t>Padding involves adding extra pixels (usually zeros) around the border of the input image. Padding is used to:</a:t>
            </a:r>
          </a:p>
          <a:p>
            <a:pPr>
              <a:buFont typeface="Arial" panose="020B0604020202020204" pitchFamily="34" charset="0"/>
              <a:buChar char="•"/>
            </a:pPr>
            <a:r>
              <a:rPr lang="en-US" sz="2400" dirty="0"/>
              <a:t>Prevent shrinking of image size</a:t>
            </a:r>
          </a:p>
          <a:p>
            <a:pPr>
              <a:buFont typeface="Arial" panose="020B0604020202020204" pitchFamily="34" charset="0"/>
              <a:buChar char="•"/>
            </a:pPr>
            <a:r>
              <a:rPr lang="en-US" sz="2400" dirty="0"/>
              <a:t>Preserve edge information</a:t>
            </a:r>
          </a:p>
          <a:p>
            <a:pPr>
              <a:buFont typeface="Arial" panose="020B0604020202020204" pitchFamily="34" charset="0"/>
              <a:buChar char="•"/>
            </a:pPr>
            <a:r>
              <a:rPr lang="en-US" sz="2400" dirty="0"/>
              <a:t>Control output dimensions</a:t>
            </a:r>
          </a:p>
          <a:p>
            <a:pPr>
              <a:buNone/>
            </a:pPr>
            <a:r>
              <a:rPr lang="en-US" sz="2400" dirty="0"/>
              <a:t>Common types of padding are </a:t>
            </a:r>
            <a:r>
              <a:rPr lang="en-US" sz="2400" b="1" dirty="0"/>
              <a:t>valid padding</a:t>
            </a:r>
            <a:r>
              <a:rPr lang="en-US" sz="2400" dirty="0"/>
              <a:t> and </a:t>
            </a:r>
            <a:r>
              <a:rPr lang="en-US" sz="2400" b="1" dirty="0"/>
              <a:t>same padding</a:t>
            </a:r>
            <a:r>
              <a:rPr lang="en-US" sz="2400" dirty="0"/>
              <a:t>.</a:t>
            </a:r>
          </a:p>
          <a:p>
            <a:pPr marL="0" indent="0">
              <a:buNone/>
            </a:pPr>
            <a:endParaRPr lang="en-IN" dirty="0"/>
          </a:p>
        </p:txBody>
      </p:sp>
    </p:spTree>
    <p:extLst>
      <p:ext uri="{BB962C8B-B14F-4D97-AF65-F5344CB8AC3E}">
        <p14:creationId xmlns:p14="http://schemas.microsoft.com/office/powerpoint/2010/main" val="1009334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48A3C-6288-6EB1-D5A7-488707FAF585}"/>
              </a:ext>
            </a:extLst>
          </p:cNvPr>
          <p:cNvSpPr>
            <a:spLocks noGrp="1"/>
          </p:cNvSpPr>
          <p:nvPr>
            <p:ph type="title"/>
          </p:nvPr>
        </p:nvSpPr>
        <p:spPr/>
        <p:txBody>
          <a:bodyPr/>
          <a:lstStyle/>
          <a:p>
            <a:r>
              <a:rPr lang="en-IN" dirty="0"/>
              <a:t>Output Feature Map</a:t>
            </a:r>
          </a:p>
        </p:txBody>
      </p:sp>
      <p:sp>
        <p:nvSpPr>
          <p:cNvPr id="3" name="Content Placeholder 2">
            <a:extLst>
              <a:ext uri="{FF2B5EF4-FFF2-40B4-BE49-F238E27FC236}">
                <a16:creationId xmlns:a16="http://schemas.microsoft.com/office/drawing/2014/main" id="{22A548C5-1C31-6159-8759-C555EAE87E7B}"/>
              </a:ext>
            </a:extLst>
          </p:cNvPr>
          <p:cNvSpPr>
            <a:spLocks noGrp="1"/>
          </p:cNvSpPr>
          <p:nvPr>
            <p:ph idx="1"/>
          </p:nvPr>
        </p:nvSpPr>
        <p:spPr/>
        <p:txBody>
          <a:bodyPr/>
          <a:lstStyle/>
          <a:p>
            <a:pPr>
              <a:buNone/>
            </a:pPr>
            <a:r>
              <a:rPr lang="en-US" sz="2800" dirty="0"/>
              <a:t>The output feature map is the result of the convolution operation. It highlights the presence of specific features at different positions in the input image. Using multiple kernels produces multiple feature maps, allowing the network to learn various features simultaneously</a:t>
            </a:r>
            <a:r>
              <a:rPr lang="en-US" dirty="0"/>
              <a:t>.</a:t>
            </a:r>
          </a:p>
          <a:p>
            <a:endParaRPr lang="en-IN" dirty="0"/>
          </a:p>
        </p:txBody>
      </p:sp>
    </p:spTree>
    <p:extLst>
      <p:ext uri="{BB962C8B-B14F-4D97-AF65-F5344CB8AC3E}">
        <p14:creationId xmlns:p14="http://schemas.microsoft.com/office/powerpoint/2010/main" val="196509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D5ABE-E4B7-0C8B-3802-5A197D479D74}"/>
              </a:ext>
            </a:extLst>
          </p:cNvPr>
          <p:cNvSpPr>
            <a:spLocks noGrp="1"/>
          </p:cNvSpPr>
          <p:nvPr>
            <p:ph type="title"/>
          </p:nvPr>
        </p:nvSpPr>
        <p:spPr/>
        <p:txBody>
          <a:bodyPr/>
          <a:lstStyle/>
          <a:p>
            <a:r>
              <a:rPr lang="en-IN" dirty="0"/>
              <a:t>Numerical Example of Convolution</a:t>
            </a:r>
          </a:p>
        </p:txBody>
      </p:sp>
      <p:sp>
        <p:nvSpPr>
          <p:cNvPr id="3" name="Content Placeholder 2">
            <a:extLst>
              <a:ext uri="{FF2B5EF4-FFF2-40B4-BE49-F238E27FC236}">
                <a16:creationId xmlns:a16="http://schemas.microsoft.com/office/drawing/2014/main" id="{A0A269D2-C260-75B7-492E-C7C97C67D657}"/>
              </a:ext>
            </a:extLst>
          </p:cNvPr>
          <p:cNvSpPr>
            <a:spLocks noGrp="1"/>
          </p:cNvSpPr>
          <p:nvPr>
            <p:ph idx="1"/>
          </p:nvPr>
        </p:nvSpPr>
        <p:spPr>
          <a:xfrm>
            <a:off x="1676400" y="1460500"/>
            <a:ext cx="10515600" cy="5032375"/>
          </a:xfrm>
        </p:spPr>
        <p:txBody>
          <a:bodyPr>
            <a:normAutofit/>
          </a:bodyPr>
          <a:lstStyle/>
          <a:p>
            <a:pPr marL="0" indent="0">
              <a:buNone/>
            </a:pPr>
            <a:r>
              <a:rPr lang="en-IN" dirty="0"/>
              <a:t>Input Image (4×4):</a:t>
            </a:r>
          </a:p>
          <a:p>
            <a:pPr marL="0" indent="0">
              <a:buNone/>
            </a:pPr>
            <a:r>
              <a:rPr lang="en-IN" dirty="0"/>
              <a:t>1  2  3  0</a:t>
            </a:r>
          </a:p>
          <a:p>
            <a:pPr marL="0" indent="0">
              <a:buNone/>
            </a:pPr>
            <a:r>
              <a:rPr lang="en-IN" dirty="0"/>
              <a:t>0  1  2  3</a:t>
            </a:r>
          </a:p>
          <a:p>
            <a:pPr marL="0" indent="0">
              <a:buNone/>
            </a:pPr>
            <a:r>
              <a:rPr lang="en-IN" dirty="0"/>
              <a:t>3  1  0  2</a:t>
            </a:r>
          </a:p>
          <a:p>
            <a:pPr marL="0" indent="0">
              <a:buNone/>
            </a:pPr>
            <a:r>
              <a:rPr lang="en-IN" dirty="0"/>
              <a:t>2  3  1  1</a:t>
            </a:r>
          </a:p>
          <a:p>
            <a:pPr marL="0" indent="0">
              <a:buNone/>
            </a:pPr>
            <a:endParaRPr lang="en-IN" dirty="0"/>
          </a:p>
          <a:p>
            <a:pPr marL="0" indent="0">
              <a:buNone/>
            </a:pPr>
            <a:r>
              <a:rPr lang="en-IN" dirty="0"/>
              <a:t>Kernel / Filter (2×2):</a:t>
            </a:r>
          </a:p>
          <a:p>
            <a:pPr marL="0" indent="0">
              <a:buNone/>
            </a:pPr>
            <a:r>
              <a:rPr lang="en-IN" dirty="0"/>
              <a:t>1  0</a:t>
            </a:r>
          </a:p>
          <a:p>
            <a:pPr marL="0" indent="0">
              <a:buNone/>
            </a:pPr>
            <a:r>
              <a:rPr lang="en-IN" dirty="0"/>
              <a:t>0  1</a:t>
            </a:r>
          </a:p>
          <a:p>
            <a:pPr marL="0" indent="0">
              <a:buNone/>
            </a:pPr>
            <a:r>
              <a:rPr lang="en-US" b="1" dirty="0"/>
              <a:t>Stride = 1</a:t>
            </a:r>
            <a:br>
              <a:rPr lang="en-US" dirty="0"/>
            </a:br>
            <a:r>
              <a:rPr lang="en-US" b="1" dirty="0"/>
              <a:t>Padding = 0 (Valid Convolution)</a:t>
            </a:r>
            <a:endParaRPr lang="en-IN" dirty="0"/>
          </a:p>
        </p:txBody>
      </p:sp>
    </p:spTree>
    <p:extLst>
      <p:ext uri="{BB962C8B-B14F-4D97-AF65-F5344CB8AC3E}">
        <p14:creationId xmlns:p14="http://schemas.microsoft.com/office/powerpoint/2010/main" val="3561916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74D251-26C0-4005-0908-8515C49532BC}"/>
                  </a:ext>
                </a:extLst>
              </p:cNvPr>
              <p:cNvSpPr>
                <a:spLocks noGrp="1"/>
              </p:cNvSpPr>
              <p:nvPr>
                <p:ph idx="1"/>
              </p:nvPr>
            </p:nvSpPr>
            <p:spPr>
              <a:xfrm>
                <a:off x="1252537" y="1154112"/>
                <a:ext cx="10515600" cy="5703888"/>
              </a:xfrm>
            </p:spPr>
            <p:txBody>
              <a:bodyPr>
                <a:normAutofit/>
              </a:bodyPr>
              <a:lstStyle/>
              <a:p>
                <a:pPr>
                  <a:buNone/>
                </a:pPr>
                <a:r>
                  <a:rPr lang="en-IN" b="1" dirty="0"/>
                  <a:t>Output Size Calculation</a:t>
                </a:r>
              </a:p>
              <a:p>
                <a:pPr>
                  <a:buNone/>
                </a:pPr>
                <a14:m>
                  <m:oMathPara xmlns:m="http://schemas.openxmlformats.org/officeDocument/2006/math">
                    <m:oMathParaPr>
                      <m:jc m:val="centerGroup"/>
                    </m:oMathParaPr>
                    <m:oMath xmlns:m="http://schemas.openxmlformats.org/officeDocument/2006/math">
                      <m:r>
                        <m:rPr>
                          <m:nor/>
                        </m:rPr>
                        <a:rPr lang="en-IN" b="0"/>
                        <m:t>Output</m:t>
                      </m:r>
                      <m:r>
                        <m:rPr>
                          <m:nor/>
                        </m:rPr>
                        <a:rPr lang="en-IN" b="0" i="1"/>
                        <m:t> </m:t>
                      </m:r>
                      <m:r>
                        <m:rPr>
                          <m:nor/>
                        </m:rPr>
                        <a:rPr lang="en-IN" b="0" i="1"/>
                        <m:t>size</m:t>
                      </m:r>
                      <m:r>
                        <a:rPr lang="en-IN" b="0" i="0">
                          <a:latin typeface="Cambria Math" panose="02040503050406030204" pitchFamily="18" charset="0"/>
                        </a:rPr>
                        <m:t>=</m:t>
                      </m:r>
                      <m:d>
                        <m:dPr>
                          <m:ctrlPr>
                            <a:rPr lang="ar-AE" b="0" i="1">
                              <a:latin typeface="Cambria Math" panose="02040503050406030204" pitchFamily="18" charset="0"/>
                            </a:rPr>
                          </m:ctrlPr>
                        </m:dPr>
                        <m:e>
                          <m:r>
                            <a:rPr lang="ar-AE" b="0" i="0">
                              <a:latin typeface="Cambria Math" panose="02040503050406030204" pitchFamily="18" charset="0"/>
                            </a:rPr>
                            <m:t>4</m:t>
                          </m:r>
                          <m:r>
                            <a:rPr lang="ar-AE" b="0" i="0">
                              <a:latin typeface="Cambria Math" panose="02040503050406030204" pitchFamily="18" charset="0"/>
                            </a:rPr>
                            <m:t>−</m:t>
                          </m:r>
                          <m:r>
                            <a:rPr lang="ar-AE" b="0" i="0">
                              <a:latin typeface="Cambria Math" panose="02040503050406030204" pitchFamily="18" charset="0"/>
                            </a:rPr>
                            <m:t>2</m:t>
                          </m:r>
                          <m:r>
                            <a:rPr lang="ar-AE" b="0" i="0">
                              <a:latin typeface="Cambria Math" panose="02040503050406030204" pitchFamily="18" charset="0"/>
                            </a:rPr>
                            <m:t>+</m:t>
                          </m:r>
                          <m:r>
                            <a:rPr lang="ar-AE" b="0" i="0">
                              <a:latin typeface="Cambria Math" panose="02040503050406030204" pitchFamily="18" charset="0"/>
                            </a:rPr>
                            <m:t>1</m:t>
                          </m:r>
                        </m:e>
                      </m:d>
                      <m:r>
                        <a:rPr lang="ar-AE" b="0" i="0">
                          <a:latin typeface="Cambria Math" panose="02040503050406030204" pitchFamily="18" charset="0"/>
                        </a:rPr>
                        <m:t>=</m:t>
                      </m:r>
                      <m:r>
                        <a:rPr lang="ar-AE" b="0" i="0">
                          <a:latin typeface="Cambria Math" panose="02040503050406030204" pitchFamily="18" charset="0"/>
                        </a:rPr>
                        <m:t>3</m:t>
                      </m:r>
                    </m:oMath>
                  </m:oMathPara>
                </a14:m>
                <a:endParaRPr lang="ar-AE" b="0" dirty="0"/>
              </a:p>
              <a:p>
                <a:pPr>
                  <a:buNone/>
                </a:pPr>
                <a:r>
                  <a:rPr lang="en-IN" dirty="0"/>
                  <a:t>So, the output feature map size is </a:t>
                </a:r>
                <a:r>
                  <a:rPr lang="en-IN" b="1" dirty="0"/>
                  <a:t>3×3</a:t>
                </a:r>
                <a:r>
                  <a:rPr lang="en-IN" dirty="0"/>
                  <a:t>.</a:t>
                </a:r>
              </a:p>
              <a:p>
                <a:pPr>
                  <a:buNone/>
                </a:pPr>
                <a:endParaRPr lang="en-IN" dirty="0"/>
              </a:p>
              <a:p>
                <a:pPr>
                  <a:buNone/>
                </a:pPr>
                <a:r>
                  <a:rPr lang="en-US" b="1" dirty="0"/>
                  <a:t>Convolution Calculation (Example)</a:t>
                </a:r>
              </a:p>
              <a:p>
                <a:pPr>
                  <a:buNone/>
                </a:pPr>
                <a:r>
                  <a:rPr lang="en-US" dirty="0"/>
                  <a:t>At the first position:</a:t>
                </a:r>
              </a:p>
              <a:p>
                <a:pPr>
                  <a:buNone/>
                </a:pPr>
                <a:r>
                  <a:rPr lang="en-IN" dirty="0"/>
                  <a:t>1  2      1  0</a:t>
                </a:r>
              </a:p>
              <a:p>
                <a:pPr>
                  <a:buNone/>
                </a:pPr>
                <a:r>
                  <a:rPr lang="en-IN" dirty="0"/>
                  <a:t>0  1  ×   0  1</a:t>
                </a:r>
              </a:p>
              <a:p>
                <a:pPr>
                  <a:buNone/>
                </a:pPr>
                <a:r>
                  <a:rPr lang="en-IN" dirty="0"/>
                  <a:t>Calculation:</a:t>
                </a:r>
              </a:p>
              <a:p>
                <a:pPr>
                  <a:buNone/>
                </a:pPr>
                <a14:m>
                  <m:oMathPara xmlns:m="http://schemas.openxmlformats.org/officeDocument/2006/math">
                    <m:oMathParaPr>
                      <m:jc m:val="centerGroup"/>
                    </m:oMathParaPr>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1</m:t>
                          </m:r>
                          <m:r>
                            <a:rPr lang="ar-AE" i="0">
                              <a:latin typeface="Cambria Math" panose="02040503050406030204" pitchFamily="18" charset="0"/>
                            </a:rPr>
                            <m:t>×</m:t>
                          </m:r>
                          <m:r>
                            <a:rPr lang="ar-AE" i="0">
                              <a:latin typeface="Cambria Math" panose="02040503050406030204" pitchFamily="18" charset="0"/>
                            </a:rPr>
                            <m:t>1</m:t>
                          </m:r>
                        </m:e>
                      </m:d>
                      <m:r>
                        <a:rPr lang="ar-AE" i="0">
                          <a:latin typeface="Cambria Math" panose="02040503050406030204" pitchFamily="18" charset="0"/>
                        </a:rPr>
                        <m:t>+</m:t>
                      </m:r>
                      <m:d>
                        <m:dPr>
                          <m:ctrlPr>
                            <a:rPr lang="ar-AE" i="1">
                              <a:latin typeface="Cambria Math" panose="02040503050406030204" pitchFamily="18" charset="0"/>
                            </a:rPr>
                          </m:ctrlPr>
                        </m:dPr>
                        <m:e>
                          <m:r>
                            <a:rPr lang="ar-AE" i="0">
                              <a:latin typeface="Cambria Math" panose="02040503050406030204" pitchFamily="18" charset="0"/>
                            </a:rPr>
                            <m:t>2</m:t>
                          </m:r>
                          <m:r>
                            <a:rPr lang="ar-AE" i="0">
                              <a:latin typeface="Cambria Math" panose="02040503050406030204" pitchFamily="18" charset="0"/>
                            </a:rPr>
                            <m:t>×</m:t>
                          </m:r>
                          <m:r>
                            <a:rPr lang="ar-AE" i="0">
                              <a:latin typeface="Cambria Math" panose="02040503050406030204" pitchFamily="18" charset="0"/>
                            </a:rPr>
                            <m:t>0</m:t>
                          </m:r>
                        </m:e>
                      </m:d>
                      <m:r>
                        <a:rPr lang="ar-AE" i="0">
                          <a:latin typeface="Cambria Math" panose="02040503050406030204" pitchFamily="18" charset="0"/>
                        </a:rPr>
                        <m:t>+</m:t>
                      </m:r>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0</m:t>
                          </m:r>
                        </m:e>
                      </m:d>
                      <m:r>
                        <a:rPr lang="ar-AE" i="0">
                          <a:latin typeface="Cambria Math" panose="02040503050406030204" pitchFamily="18" charset="0"/>
                        </a:rPr>
                        <m:t>+</m:t>
                      </m:r>
                      <m:d>
                        <m:dPr>
                          <m:ctrlPr>
                            <a:rPr lang="ar-AE" i="1">
                              <a:latin typeface="Cambria Math" panose="02040503050406030204" pitchFamily="18" charset="0"/>
                            </a:rPr>
                          </m:ctrlPr>
                        </m:dPr>
                        <m:e>
                          <m:r>
                            <a:rPr lang="ar-AE" i="0">
                              <a:latin typeface="Cambria Math" panose="02040503050406030204" pitchFamily="18" charset="0"/>
                            </a:rPr>
                            <m:t>1</m:t>
                          </m:r>
                          <m:r>
                            <a:rPr lang="ar-AE" i="0">
                              <a:latin typeface="Cambria Math" panose="02040503050406030204" pitchFamily="18" charset="0"/>
                            </a:rPr>
                            <m:t>×</m:t>
                          </m:r>
                          <m:r>
                            <a:rPr lang="ar-AE" i="0">
                              <a:latin typeface="Cambria Math" panose="02040503050406030204" pitchFamily="18" charset="0"/>
                            </a:rPr>
                            <m:t>1</m:t>
                          </m:r>
                        </m:e>
                      </m:d>
                      <m:r>
                        <a:rPr lang="ar-AE" i="0">
                          <a:latin typeface="Cambria Math" panose="02040503050406030204" pitchFamily="18" charset="0"/>
                        </a:rPr>
                        <m:t>=</m:t>
                      </m:r>
                      <m:r>
                        <a:rPr lang="ar-AE" i="0">
                          <a:latin typeface="Cambria Math" panose="02040503050406030204" pitchFamily="18" charset="0"/>
                        </a:rPr>
                        <m:t>2</m:t>
                      </m:r>
                    </m:oMath>
                  </m:oMathPara>
                </a14:m>
                <a:endParaRPr lang="ar-AE" dirty="0"/>
              </a:p>
              <a:p>
                <a:pPr>
                  <a:buNone/>
                </a:pPr>
                <a:r>
                  <a:rPr lang="en-IN" dirty="0"/>
                  <a:t>The kernel slides across the image and the same operation is repeated for all positions.</a:t>
                </a:r>
              </a:p>
              <a:p>
                <a:pPr>
                  <a:buNone/>
                </a:pPr>
                <a:endParaRPr lang="en-IN" dirty="0"/>
              </a:p>
            </p:txBody>
          </p:sp>
        </mc:Choice>
        <mc:Fallback>
          <p:sp>
            <p:nvSpPr>
              <p:cNvPr id="3" name="Content Placeholder 2">
                <a:extLst>
                  <a:ext uri="{FF2B5EF4-FFF2-40B4-BE49-F238E27FC236}">
                    <a16:creationId xmlns:a16="http://schemas.microsoft.com/office/drawing/2014/main" id="{1E74D251-26C0-4005-0908-8515C49532BC}"/>
                  </a:ext>
                </a:extLst>
              </p:cNvPr>
              <p:cNvSpPr>
                <a:spLocks noGrp="1" noRot="1" noChangeAspect="1" noMove="1" noResize="1" noEditPoints="1" noAdjustHandles="1" noChangeArrowheads="1" noChangeShapeType="1" noTextEdit="1"/>
              </p:cNvSpPr>
              <p:nvPr>
                <p:ph idx="1"/>
              </p:nvPr>
            </p:nvSpPr>
            <p:spPr>
              <a:xfrm>
                <a:off x="1252537" y="1154112"/>
                <a:ext cx="10515600" cy="5703888"/>
              </a:xfrm>
              <a:blipFill>
                <a:blip r:embed="rId2"/>
                <a:stretch>
                  <a:fillRect l="-464" t="-534"/>
                </a:stretch>
              </a:blipFill>
            </p:spPr>
            <p:txBody>
              <a:bodyPr/>
              <a:lstStyle/>
              <a:p>
                <a:r>
                  <a:rPr lang="en-IN">
                    <a:noFill/>
                  </a:rPr>
                  <a:t> </a:t>
                </a:r>
              </a:p>
            </p:txBody>
          </p:sp>
        </mc:Fallback>
      </mc:AlternateContent>
    </p:spTree>
    <p:extLst>
      <p:ext uri="{BB962C8B-B14F-4D97-AF65-F5344CB8AC3E}">
        <p14:creationId xmlns:p14="http://schemas.microsoft.com/office/powerpoint/2010/main" val="3913419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5D7F2-3BBA-4051-8DEB-6ED3205896D1}"/>
              </a:ext>
            </a:extLst>
          </p:cNvPr>
          <p:cNvSpPr>
            <a:spLocks noGrp="1"/>
          </p:cNvSpPr>
          <p:nvPr>
            <p:ph type="title"/>
          </p:nvPr>
        </p:nvSpPr>
        <p:spPr/>
        <p:txBody>
          <a:bodyPr>
            <a:normAutofit/>
          </a:bodyPr>
          <a:lstStyle/>
          <a:p>
            <a:r>
              <a:rPr lang="en-IN" b="1" dirty="0"/>
              <a:t>Final Output Feature Map</a:t>
            </a:r>
            <a:br>
              <a:rPr lang="en-IN" b="1" dirty="0"/>
            </a:br>
            <a:endParaRPr lang="en-IN" dirty="0"/>
          </a:p>
        </p:txBody>
      </p:sp>
      <p:sp>
        <p:nvSpPr>
          <p:cNvPr id="3" name="Content Placeholder 2">
            <a:extLst>
              <a:ext uri="{FF2B5EF4-FFF2-40B4-BE49-F238E27FC236}">
                <a16:creationId xmlns:a16="http://schemas.microsoft.com/office/drawing/2014/main" id="{F48A135D-59CE-8F3D-8C42-AD91D2CB1C62}"/>
              </a:ext>
            </a:extLst>
          </p:cNvPr>
          <p:cNvSpPr>
            <a:spLocks noGrp="1"/>
          </p:cNvSpPr>
          <p:nvPr>
            <p:ph idx="1"/>
          </p:nvPr>
        </p:nvSpPr>
        <p:spPr/>
        <p:txBody>
          <a:bodyPr/>
          <a:lstStyle/>
          <a:p>
            <a:pPr marL="0" indent="0">
              <a:buNone/>
            </a:pPr>
            <a:r>
              <a:rPr lang="en-IN" sz="2400" dirty="0"/>
              <a:t>2  4  6</a:t>
            </a:r>
          </a:p>
          <a:p>
            <a:pPr marL="0" indent="0">
              <a:buNone/>
            </a:pPr>
            <a:r>
              <a:rPr lang="en-IN" sz="2400" dirty="0"/>
              <a:t>1  1  4</a:t>
            </a:r>
          </a:p>
          <a:p>
            <a:pPr marL="0" indent="0">
              <a:buNone/>
            </a:pPr>
            <a:r>
              <a:rPr lang="en-IN" sz="2400" dirty="0"/>
              <a:t>6  2  1</a:t>
            </a:r>
          </a:p>
          <a:p>
            <a:pPr marL="0" indent="0">
              <a:buNone/>
            </a:pPr>
            <a:r>
              <a:rPr lang="en-US" sz="2400" dirty="0"/>
              <a:t>Each value in the feature map is obtained by element-wise multiplication and summation.</a:t>
            </a:r>
          </a:p>
          <a:p>
            <a:pPr marL="0" indent="0">
              <a:buNone/>
            </a:pPr>
            <a:endParaRPr lang="en-IN" dirty="0"/>
          </a:p>
        </p:txBody>
      </p:sp>
    </p:spTree>
    <p:extLst>
      <p:ext uri="{BB962C8B-B14F-4D97-AF65-F5344CB8AC3E}">
        <p14:creationId xmlns:p14="http://schemas.microsoft.com/office/powerpoint/2010/main" val="173298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6462C-E89D-57BD-D4EA-4E08BB58F944}"/>
              </a:ext>
            </a:extLst>
          </p:cNvPr>
          <p:cNvSpPr>
            <a:spLocks noGrp="1"/>
          </p:cNvSpPr>
          <p:nvPr>
            <p:ph type="title"/>
          </p:nvPr>
        </p:nvSpPr>
        <p:spPr>
          <a:xfrm>
            <a:off x="1676400" y="665163"/>
            <a:ext cx="10515600" cy="1325563"/>
          </a:xfrm>
        </p:spPr>
        <p:txBody>
          <a:bodyPr>
            <a:normAutofit/>
          </a:bodyPr>
          <a:lstStyle/>
          <a:p>
            <a:r>
              <a:rPr lang="en-IN" b="1" dirty="0"/>
              <a:t>Advantages of CNN</a:t>
            </a:r>
            <a:br>
              <a:rPr lang="en-IN" b="1" dirty="0"/>
            </a:br>
            <a:endParaRPr lang="en-IN" dirty="0"/>
          </a:p>
        </p:txBody>
      </p:sp>
      <p:sp>
        <p:nvSpPr>
          <p:cNvPr id="7" name="Rectangle 4">
            <a:extLst>
              <a:ext uri="{FF2B5EF4-FFF2-40B4-BE49-F238E27FC236}">
                <a16:creationId xmlns:a16="http://schemas.microsoft.com/office/drawing/2014/main" id="{D2D72EF2-606D-E536-279B-91665BF4D012}"/>
              </a:ext>
            </a:extLst>
          </p:cNvPr>
          <p:cNvSpPr>
            <a:spLocks noGrp="1" noChangeArrowheads="1"/>
          </p:cNvSpPr>
          <p:nvPr>
            <p:ph idx="1"/>
          </p:nvPr>
        </p:nvSpPr>
        <p:spPr bwMode="auto">
          <a:xfrm>
            <a:off x="1785937" y="1736229"/>
            <a:ext cx="862012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Automatic feature extraction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Fewer parameters due to weight sharing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Robust to translation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High accuracy in image-related tasks</a:t>
            </a:r>
          </a:p>
        </p:txBody>
      </p:sp>
    </p:spTree>
    <p:extLst>
      <p:ext uri="{BB962C8B-B14F-4D97-AF65-F5344CB8AC3E}">
        <p14:creationId xmlns:p14="http://schemas.microsoft.com/office/powerpoint/2010/main" val="416724975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16</TotalTime>
  <Words>667</Words>
  <Application>Microsoft Office PowerPoint</Application>
  <PresentationFormat>Widescreen</PresentationFormat>
  <Paragraphs>76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Cambria Math</vt:lpstr>
      <vt:lpstr>Century Gothic</vt:lpstr>
      <vt:lpstr>Wingdings 3</vt:lpstr>
      <vt:lpstr>Wisp</vt:lpstr>
      <vt:lpstr>Introduction to Convolutional Neural Network (CNN)</vt:lpstr>
      <vt:lpstr>PowerPoint Presentation</vt:lpstr>
      <vt:lpstr>Why CNN?</vt:lpstr>
      <vt:lpstr>Applications of CNN</vt:lpstr>
      <vt:lpstr>Basic Architecture of CNN</vt:lpstr>
      <vt:lpstr>What is Convolution?</vt:lpstr>
      <vt:lpstr>Convolutional Operation</vt:lpstr>
      <vt:lpstr>Kernel / Filter</vt:lpstr>
      <vt:lpstr>Stride</vt:lpstr>
      <vt:lpstr>Padding</vt:lpstr>
      <vt:lpstr>Output Feature Map</vt:lpstr>
      <vt:lpstr>Numerical Example of Convolution</vt:lpstr>
      <vt:lpstr>PowerPoint Presentation</vt:lpstr>
      <vt:lpstr>Final Output Feature Map </vt:lpstr>
      <vt:lpstr>Advantages of CNN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1</cp:revision>
  <dcterms:created xsi:type="dcterms:W3CDTF">2026-02-04T04:53:38Z</dcterms:created>
  <dcterms:modified xsi:type="dcterms:W3CDTF">2026-02-04T05:09:40Z</dcterms:modified>
</cp:coreProperties>
</file>